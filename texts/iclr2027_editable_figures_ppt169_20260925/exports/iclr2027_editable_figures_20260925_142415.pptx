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925800" cy="9401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clr2027_editable_figure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clr2027_editable_figure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40"/>
          <p:cNvGrpSpPr/>
          <p:nvPr/>
        </p:nvGrpSpPr>
        <p:grpSpPr>
          <a:xfrm>
            <a:off x="246420" y="2814161"/>
            <a:ext cx="6488858" cy="2635854"/>
            <a:chOff x="246420" y="2814161"/>
            <a:chExt cx="6488858" cy="2635854"/>
          </a:xfrm>
        </p:grpSpPr>
        <p:sp>
          <p:nvSpPr>
            <p:cNvPr id="2" name="Rectangle 2"/>
            <p:cNvSpPr/>
            <p:nvPr/>
          </p:nvSpPr>
          <p:spPr>
            <a:xfrm>
              <a:off x="257175" y="4229100"/>
              <a:ext cx="3705225" cy="409575"/>
            </a:xfrm>
            <a:prstGeom prst="roundRect">
              <a:avLst>
                <a:gd name="adj" fmla="val 18605"/>
              </a:avLst>
            </a:prstGeom>
            <a:solidFill>
              <a:srgbClr val="FFFFFF"/>
            </a:solidFill>
            <a:ln w="12382">
              <a:solidFill>
                <a:srgbClr val="AEBFCB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42900" y="4286250"/>
              <a:ext cx="3571875" cy="295275"/>
              <a:chOff x="342900" y="4286250"/>
              <a:chExt cx="3571875" cy="295275"/>
            </a:xfrm>
          </p:grpSpPr>
          <p:sp>
            <p:nvSpPr>
              <p:cNvPr id="3" name="Rectangle 3"/>
              <p:cNvSpPr/>
              <p:nvPr/>
            </p:nvSpPr>
            <p:spPr>
              <a:xfrm>
                <a:off x="342900" y="4286250"/>
                <a:ext cx="238125" cy="295275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4" name="Rectangle 4"/>
              <p:cNvSpPr/>
              <p:nvPr/>
            </p:nvSpPr>
            <p:spPr>
              <a:xfrm>
                <a:off x="638175" y="4286250"/>
                <a:ext cx="238125" cy="295275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923925" y="4286250"/>
                <a:ext cx="238125" cy="295275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122872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147637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172402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1971675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222885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247650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72415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97180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21945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67100" y="4286250"/>
                <a:ext cx="209550" cy="295275"/>
              </a:xfrm>
              <a:prstGeom prst="roundRect">
                <a:avLst>
                  <a:gd name="adj" fmla="val 18182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714750" y="4286250"/>
                <a:ext cx="200025" cy="295275"/>
              </a:xfrm>
              <a:prstGeom prst="roundRect">
                <a:avLst>
                  <a:gd name="adj" fmla="val 19048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257175" y="4695825"/>
              <a:ext cx="3705225" cy="152400"/>
              <a:chOff x="257175" y="4695825"/>
              <a:chExt cx="3705225" cy="152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57175" y="4695825"/>
                <a:ext cx="9048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04875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371475" y="76200"/>
                    </a:lnTo>
                    <a:cubicBezTo>
                      <a:pt x="428625" y="76200"/>
                      <a:pt x="457200" y="101600"/>
                      <a:pt x="457200" y="152400"/>
                    </a:cubicBezTo>
                    <a:cubicBezTo>
                      <a:pt x="457200" y="101600"/>
                      <a:pt x="488950" y="76200"/>
                      <a:pt x="552450" y="76200"/>
                    </a:cubicBezTo>
                    <a:lnTo>
                      <a:pt x="838200" y="76200"/>
                    </a:lnTo>
                    <a:cubicBezTo>
                      <a:pt x="882650" y="76200"/>
                      <a:pt x="904875" y="50800"/>
                      <a:pt x="9048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228725" y="4695825"/>
                <a:ext cx="9429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42975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381000" y="76200"/>
                    </a:lnTo>
                    <a:cubicBezTo>
                      <a:pt x="438150" y="76200"/>
                      <a:pt x="466725" y="101600"/>
                      <a:pt x="466725" y="152400"/>
                    </a:cubicBezTo>
                    <a:cubicBezTo>
                      <a:pt x="466725" y="101600"/>
                      <a:pt x="498475" y="76200"/>
                      <a:pt x="561975" y="76200"/>
                    </a:cubicBezTo>
                    <a:lnTo>
                      <a:pt x="866775" y="76200"/>
                    </a:lnTo>
                    <a:cubicBezTo>
                      <a:pt x="917575" y="76200"/>
                      <a:pt x="942975" y="50800"/>
                      <a:pt x="9429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228850" y="4695825"/>
                <a:ext cx="6858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266700" y="76200"/>
                    </a:lnTo>
                    <a:cubicBezTo>
                      <a:pt x="330200" y="76200"/>
                      <a:pt x="361950" y="101600"/>
                      <a:pt x="361950" y="152400"/>
                    </a:cubicBezTo>
                    <a:cubicBezTo>
                      <a:pt x="361950" y="101600"/>
                      <a:pt x="393700" y="76200"/>
                      <a:pt x="457200" y="76200"/>
                    </a:cubicBezTo>
                    <a:lnTo>
                      <a:pt x="619125" y="76200"/>
                    </a:lnTo>
                    <a:cubicBezTo>
                      <a:pt x="663575" y="76200"/>
                      <a:pt x="685800" y="50800"/>
                      <a:pt x="685800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81325" y="4695825"/>
                <a:ext cx="98107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81075" h="152400">
                    <a:moveTo>
                      <a:pt x="0" y="0"/>
                    </a:moveTo>
                    <a:cubicBezTo>
                      <a:pt x="0" y="50800"/>
                      <a:pt x="25400" y="76200"/>
                      <a:pt x="76200" y="76200"/>
                    </a:cubicBezTo>
                    <a:lnTo>
                      <a:pt x="390525" y="76200"/>
                    </a:lnTo>
                    <a:cubicBezTo>
                      <a:pt x="454025" y="76200"/>
                      <a:pt x="485775" y="101600"/>
                      <a:pt x="485775" y="152400"/>
                    </a:cubicBezTo>
                    <a:cubicBezTo>
                      <a:pt x="485775" y="101600"/>
                      <a:pt x="517525" y="76200"/>
                      <a:pt x="581025" y="76200"/>
                    </a:cubicBezTo>
                    <a:lnTo>
                      <a:pt x="904875" y="76200"/>
                    </a:lnTo>
                    <a:cubicBezTo>
                      <a:pt x="955675" y="76200"/>
                      <a:pt x="981075" y="50800"/>
                      <a:pt x="9810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246420" y="4908232"/>
              <a:ext cx="4057051" cy="541783"/>
              <a:chOff x="246420" y="4908232"/>
              <a:chExt cx="4057051" cy="54178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46420" y="4908232"/>
                <a:ext cx="935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Problem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77417" y="4908232"/>
                <a:ext cx="145511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Wrong trace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45881" y="4908232"/>
                <a:ext cx="6898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Error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253844" y="5127308"/>
                <a:ext cx="67391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signal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200400" y="4908232"/>
                <a:ext cx="62865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Solve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725979" y="5127308"/>
                <a:ext cx="157749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dirty="0">
                    <a:solidFill>
                      <a:srgbClr val="193952"/>
                    </a:solidFill>
                    <a:latin typeface="Times New Roman"/>
                    <a:ea typeface="Times New Roman"/>
                    <a:cs typeface="Times New Roman"/>
                  </a:rPr>
                  <a:t>independently</a:t>
                </a:r>
              </a:p>
            </p:txBody>
          </p:sp>
        </p:grpSp>
        <p:sp>
          <p:nvSpPr>
            <p:cNvPr id="30" name="Line 30"/>
            <p:cNvSpPr/>
            <p:nvPr/>
          </p:nvSpPr>
          <p:spPr>
            <a:xfrm>
              <a:off x="4038600" y="4448175"/>
              <a:ext cx="266700" cy="1"/>
            </a:xfrm>
            <a:prstGeom prst="line">
              <a:avLst/>
            </a:prstGeom>
            <a:noFill/>
            <a:ln w="19050">
              <a:solidFill>
                <a:srgbClr val="24465E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43400" y="4010025"/>
              <a:ext cx="1000125" cy="876300"/>
            </a:xfrm>
            <a:prstGeom prst="roundRect">
              <a:avLst>
                <a:gd name="adj" fmla="val 10870"/>
              </a:avLst>
            </a:prstGeom>
            <a:gradFill>
              <a:gsLst>
                <a:gs pos="0">
                  <a:srgbClr val="E5EBEE"/>
                </a:gs>
                <a:gs pos="55000">
                  <a:srgbClr val="D5DEE2"/>
                </a:gs>
                <a:gs pos="100000">
                  <a:srgbClr val="E5E9EB"/>
                </a:gs>
              </a:gsLst>
              <a:lin ang="2700000" scaled="1"/>
            </a:gradFill>
            <a:ln w="12382">
              <a:solidFill>
                <a:srgbClr val="8CA7B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70057" y="4164330"/>
              <a:ext cx="5563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Full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74566" y="4450080"/>
              <a:ext cx="9473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prefill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53050" y="4448175"/>
              <a:ext cx="266700" cy="1"/>
            </a:xfrm>
            <a:prstGeom prst="line">
              <a:avLst/>
            </a:prstGeom>
            <a:noFill/>
            <a:ln w="19050">
              <a:solidFill>
                <a:srgbClr val="24465E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57850" y="4124325"/>
              <a:ext cx="628650" cy="647700"/>
            </a:xfrm>
            <a:prstGeom prst="roundRect">
              <a:avLst>
                <a:gd name="adj" fmla="val 15152"/>
              </a:avLst>
            </a:prstGeom>
            <a:solidFill>
              <a:srgbClr val="F1F4F4"/>
            </a:solidFill>
            <a:ln w="11430">
              <a:solidFill>
                <a:srgbClr val="8CA7B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0050" y="4274820"/>
              <a:ext cx="3242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101010"/>
                  </a:solidFill>
                  <a:latin typeface="Arial"/>
                  <a:ea typeface="Arial"/>
                  <a:cs typeface="Arial"/>
                </a:rPr>
                <a:t>y</a:t>
              </a:r>
              <a:r>
                <a:rPr lang="en-US" sz="1650" i="1" baseline="-25000" dirty="0">
                  <a:solidFill>
                    <a:srgbClr val="10101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989873" y="2814161"/>
              <a:ext cx="274540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same full-prefill logits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07774" y="3052286"/>
              <a:ext cx="19096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72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 xml:space="preserve">same sampled </a:t>
              </a:r>
              <a:r>
                <a:rPr lang="en-US" sz="1720" i="1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y</a:t>
              </a:r>
              <a:r>
                <a:rPr lang="en-US" sz="1200" baseline="-25000" dirty="0">
                  <a:solidFill>
                    <a:srgbClr val="193952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972175" y="3400425"/>
              <a:ext cx="1" cy="657225"/>
            </a:xfrm>
            <a:prstGeom prst="line">
              <a:avLst/>
            </a:prstGeom>
            <a:noFill/>
            <a:ln w="19050">
              <a:solidFill>
                <a:srgbClr val="24465E"/>
              </a:solidFill>
              <a:custDash>
                <a:ds d="400000" sp="300000"/>
              </a:custDash>
              <a:tailEnd type="triangle" w="lg" len="lg"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286500" y="3019425"/>
            <a:ext cx="895350" cy="3333750"/>
            <a:chOff x="6286500" y="3019425"/>
            <a:chExt cx="895350" cy="3333750"/>
          </a:xfrm>
        </p:grpSpPr>
        <p:sp>
          <p:nvSpPr>
            <p:cNvPr id="41" name="Freeform 41"/>
            <p:cNvSpPr/>
            <p:nvPr/>
          </p:nvSpPr>
          <p:spPr>
            <a:xfrm>
              <a:off x="6286500" y="3019425"/>
              <a:ext cx="895350" cy="1428750"/>
            </a:xfrm>
            <a:custGeom>
              <a:avLst/>
              <a:gdLst/>
              <a:ahLst/>
              <a:cxnLst/>
              <a:rect l="l" t="t" r="r" b="b"/>
              <a:pathLst>
                <a:path w="895350" h="1428750">
                  <a:moveTo>
                    <a:pt x="0" y="1428750"/>
                  </a:moveTo>
                  <a:cubicBezTo>
                    <a:pt x="476250" y="1428750"/>
                    <a:pt x="238125" y="0"/>
                    <a:pt x="895350" y="0"/>
                  </a:cubicBezTo>
                </a:path>
              </a:pathLst>
            </a:custGeom>
            <a:noFill/>
            <a:ln w="33338">
              <a:solidFill>
                <a:srgbClr val="D54747"/>
              </a:solidFill>
              <a:tailEnd type="triangle" w="lg" len="lg"/>
            </a:ln>
          </p:spPr>
        </p:sp>
        <p:sp>
          <p:nvSpPr>
            <p:cNvPr id="42" name="Freeform 42"/>
            <p:cNvSpPr/>
            <p:nvPr/>
          </p:nvSpPr>
          <p:spPr>
            <a:xfrm>
              <a:off x="6286500" y="4448175"/>
              <a:ext cx="895350" cy="1905000"/>
            </a:xfrm>
            <a:custGeom>
              <a:avLst/>
              <a:gdLst/>
              <a:ahLst/>
              <a:cxnLst/>
              <a:rect l="l" t="t" r="r" b="b"/>
              <a:pathLst>
                <a:path w="895350" h="1905000">
                  <a:moveTo>
                    <a:pt x="0" y="0"/>
                  </a:moveTo>
                  <a:cubicBezTo>
                    <a:pt x="523875" y="47625"/>
                    <a:pt x="228600" y="1866900"/>
                    <a:pt x="895350" y="1905000"/>
                  </a:cubicBezTo>
                </a:path>
              </a:pathLst>
            </a:custGeom>
            <a:noFill/>
            <a:ln w="33338">
              <a:solidFill>
                <a:srgbClr val="008B94"/>
              </a:solidFill>
              <a:tailEnd type="triangle" w="lg" len="lg"/>
            </a:ln>
          </p:spPr>
        </p:sp>
      </p:grpSp>
      <p:grpSp>
        <p:nvGrpSpPr>
          <p:cNvPr id="115" name="Group 115"/>
          <p:cNvGrpSpPr/>
          <p:nvPr/>
        </p:nvGrpSpPr>
        <p:grpSpPr>
          <a:xfrm>
            <a:off x="7210425" y="1228725"/>
            <a:ext cx="8477250" cy="3362325"/>
            <a:chOff x="7210425" y="1228725"/>
            <a:chExt cx="8477250" cy="3362325"/>
          </a:xfrm>
        </p:grpSpPr>
        <p:sp>
          <p:nvSpPr>
            <p:cNvPr id="44" name="Rectangle 44"/>
            <p:cNvSpPr/>
            <p:nvPr/>
          </p:nvSpPr>
          <p:spPr>
            <a:xfrm>
              <a:off x="7210425" y="1228725"/>
              <a:ext cx="8477250" cy="3362325"/>
            </a:xfrm>
            <a:prstGeom prst="roundRect">
              <a:avLst>
                <a:gd name="adj" fmla="val 4249"/>
              </a:avLst>
            </a:prstGeom>
            <a:gradFill>
              <a:gsLst>
                <a:gs pos="0">
                  <a:srgbClr val="FFF5F5"/>
                </a:gs>
                <a:gs pos="50000">
                  <a:srgbClr val="FDEFEF"/>
                </a:gs>
                <a:gs pos="100000">
                  <a:srgbClr val="FFF4F4"/>
                </a:gs>
              </a:gsLst>
              <a:lin ang="2700000" scaled="1"/>
            </a:gradFill>
            <a:ln w="8572">
              <a:solidFill>
                <a:srgbClr val="F68B8E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448550" y="1400175"/>
              <a:ext cx="866775" cy="504825"/>
            </a:xfrm>
            <a:prstGeom prst="roundRect">
              <a:avLst>
                <a:gd name="adj" fmla="val 16981"/>
              </a:avLst>
            </a:prstGeom>
            <a:gradFill>
              <a:gsLst>
                <a:gs pos="0">
                  <a:srgbClr val="D56768"/>
                </a:gs>
                <a:gs pos="50000">
                  <a:srgbClr val="BC4142"/>
                </a:gs>
                <a:gs pos="100000">
                  <a:srgbClr val="DA696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15504" y="14668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R2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8553450" y="1447800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7145">
              <a:solidFill>
                <a:srgbClr val="B9424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77859" y="1480185"/>
              <a:ext cx="4227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A62C30"/>
                  </a:solidFill>
                  <a:latin typeface="Times New Roman"/>
                  <a:ea typeface="Times New Roman"/>
                  <a:cs typeface="Times New Roman"/>
                </a:rPr>
                <a:t>Full continued access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758318" y="1320165"/>
              <a:ext cx="27194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AE393C"/>
                  </a:solidFill>
                  <a:latin typeface="Times New Roman"/>
                  <a:ea typeface="Times New Roman"/>
                  <a:cs typeface="Times New Roman"/>
                </a:rPr>
                <a:t>queries retain access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970825" y="1586865"/>
              <a:ext cx="25069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AE393C"/>
                  </a:solidFill>
                  <a:latin typeface="Times New Roman"/>
                  <a:ea typeface="Times New Roman"/>
                  <a:cs typeface="Times New Roman"/>
                </a:rPr>
                <a:t>to failed-trace K/V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8724900" y="1628775"/>
              <a:ext cx="5695950" cy="1552575"/>
              <a:chOff x="8724900" y="1628775"/>
              <a:chExt cx="5695950" cy="155257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724900" y="1628775"/>
                <a:ext cx="4038600" cy="1552575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1552575">
                    <a:moveTo>
                      <a:pt x="4038600" y="885825"/>
                    </a:moveTo>
                    <a:cubicBezTo>
                      <a:pt x="3943350" y="0"/>
                      <a:pt x="514350" y="114300"/>
                      <a:pt x="0" y="1552575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105900" y="1752600"/>
                <a:ext cx="36576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1428750">
                    <a:moveTo>
                      <a:pt x="3657600" y="762000"/>
                    </a:moveTo>
                    <a:cubicBezTo>
                      <a:pt x="3371850" y="0"/>
                      <a:pt x="590550" y="161925"/>
                      <a:pt x="0" y="1428750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525000" y="1847850"/>
                <a:ext cx="323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333500">
                    <a:moveTo>
                      <a:pt x="3238500" y="666750"/>
                    </a:moveTo>
                    <a:cubicBezTo>
                      <a:pt x="2857500" y="0"/>
                      <a:pt x="571500" y="247650"/>
                      <a:pt x="0" y="1333500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953625" y="1876425"/>
                <a:ext cx="2809875" cy="1304925"/>
              </a:xfrm>
              <a:custGeom>
                <a:avLst/>
                <a:gdLst/>
                <a:ahLst/>
                <a:cxnLst/>
                <a:rect l="l" t="t" r="r" b="b"/>
                <a:pathLst>
                  <a:path w="2809875" h="1304925">
                    <a:moveTo>
                      <a:pt x="2809875" y="638175"/>
                    </a:moveTo>
                    <a:cubicBezTo>
                      <a:pt x="2333625" y="0"/>
                      <a:pt x="533400" y="333375"/>
                      <a:pt x="0" y="1304925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353675" y="1971675"/>
                <a:ext cx="2409825" cy="1209675"/>
              </a:xfrm>
              <a:custGeom>
                <a:avLst/>
                <a:gdLst/>
                <a:ahLst/>
                <a:cxnLst/>
                <a:rect l="l" t="t" r="r" b="b"/>
                <a:pathLst>
                  <a:path w="2409825" h="1209675">
                    <a:moveTo>
                      <a:pt x="2409825" y="542925"/>
                    </a:moveTo>
                    <a:cubicBezTo>
                      <a:pt x="2076450" y="0"/>
                      <a:pt x="466725" y="381000"/>
                      <a:pt x="0" y="1209675"/>
                    </a:cubicBezTo>
                  </a:path>
                </a:pathLst>
              </a:custGeom>
              <a:noFill/>
              <a:ln w="17145">
                <a:solidFill>
                  <a:srgbClr val="D54747"/>
                </a:solidFill>
                <a:tailEnd type="triangle" w="lg" len="lg"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753725" y="2057400"/>
                <a:ext cx="20097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009775" h="1123950">
                    <a:moveTo>
                      <a:pt x="2009775" y="457200"/>
                    </a:moveTo>
                    <a:cubicBezTo>
                      <a:pt x="1628775" y="0"/>
                      <a:pt x="438150" y="352425"/>
                      <a:pt x="0" y="112395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449050" y="2200275"/>
                <a:ext cx="1314450" cy="981075"/>
              </a:xfrm>
              <a:custGeom>
                <a:avLst/>
                <a:gdLst/>
                <a:ahLst/>
                <a:cxnLst/>
                <a:rect l="l" t="t" r="r" b="b"/>
                <a:pathLst>
                  <a:path w="1314450" h="981075">
                    <a:moveTo>
                      <a:pt x="1314450" y="314325"/>
                    </a:moveTo>
                    <a:cubicBezTo>
                      <a:pt x="962025" y="0"/>
                      <a:pt x="152400" y="323850"/>
                      <a:pt x="0" y="9810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763375" y="2343150"/>
                <a:ext cx="10001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38200">
                    <a:moveTo>
                      <a:pt x="1000125" y="171450"/>
                    </a:moveTo>
                    <a:cubicBezTo>
                      <a:pt x="771525" y="0"/>
                      <a:pt x="238125" y="285750"/>
                      <a:pt x="0" y="83820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668000" y="1895475"/>
                <a:ext cx="2962275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2962275" h="609600">
                    <a:moveTo>
                      <a:pt x="0" y="295275"/>
                    </a:moveTo>
                    <a:cubicBezTo>
                      <a:pt x="762000" y="0"/>
                      <a:pt x="2619375" y="9525"/>
                      <a:pt x="2962275" y="609600"/>
                    </a:cubicBezTo>
                  </a:path>
                </a:pathLst>
              </a:custGeom>
              <a:noFill/>
              <a:ln w="17145">
                <a:solidFill>
                  <a:srgbClr val="F04C4C"/>
                </a:solidFill>
                <a:tailEnd type="triangle" w="lg" len="lg"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1144250" y="1895475"/>
                <a:ext cx="32766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609600">
                    <a:moveTo>
                      <a:pt x="0" y="228600"/>
                    </a:moveTo>
                    <a:cubicBezTo>
                      <a:pt x="809625" y="0"/>
                      <a:pt x="2962275" y="28575"/>
                      <a:pt x="3276600" y="609600"/>
                    </a:cubicBezTo>
                  </a:path>
                </a:pathLst>
              </a:custGeom>
              <a:noFill/>
              <a:ln w="17145">
                <a:solidFill>
                  <a:srgbClr val="D54747"/>
                </a:solidFill>
                <a:tailEnd type="triangle" w="lg" len="lg"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2192000" y="2095500"/>
                <a:ext cx="13430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1343025" h="409575">
                    <a:moveTo>
                      <a:pt x="0" y="76200"/>
                    </a:moveTo>
                    <a:cubicBezTo>
                      <a:pt x="495300" y="0"/>
                      <a:pt x="1123950" y="95250"/>
                      <a:pt x="1343025" y="4095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2573000" y="1914525"/>
                <a:ext cx="1771650" cy="590550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590550">
                    <a:moveTo>
                      <a:pt x="0" y="114300"/>
                    </a:moveTo>
                    <a:cubicBezTo>
                      <a:pt x="647700" y="0"/>
                      <a:pt x="1495425" y="200025"/>
                      <a:pt x="1771650" y="59055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tailEnd type="triangle" w="lg" len="lg"/>
              </a:ln>
            </p:spPr>
          </p:sp>
        </p:grpSp>
        <p:grpSp>
          <p:nvGrpSpPr>
            <p:cNvPr id="92" name="Group 92"/>
            <p:cNvGrpSpPr/>
            <p:nvPr/>
          </p:nvGrpSpPr>
          <p:grpSpPr>
            <a:xfrm>
              <a:off x="7410450" y="3200400"/>
              <a:ext cx="4832258" cy="1265587"/>
              <a:chOff x="7410450" y="3200400"/>
              <a:chExt cx="4832258" cy="1265587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7410450" y="3200400"/>
                <a:ext cx="462915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2382">
                <a:solidFill>
                  <a:srgbClr val="BACBD5"/>
                </a:solidFill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74676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77533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7" name="Rectangle 67"/>
              <p:cNvSpPr/>
              <p:nvPr/>
            </p:nvSpPr>
            <p:spPr>
              <a:xfrm>
                <a:off x="80391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31532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860107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888682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917257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94488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3" name="Rectangle 73"/>
              <p:cNvSpPr/>
              <p:nvPr/>
            </p:nvSpPr>
            <p:spPr>
              <a:xfrm>
                <a:off x="978217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00584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103441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0639425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109156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1120140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11487150" y="325755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11763375" y="3257550"/>
                <a:ext cx="228600" cy="3048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7410450" y="3686175"/>
                <a:ext cx="11144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1442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66725" y="85725"/>
                    </a:lnTo>
                    <a:cubicBezTo>
                      <a:pt x="530225" y="85725"/>
                      <a:pt x="561975" y="111125"/>
                      <a:pt x="561975" y="161925"/>
                    </a:cubicBezTo>
                    <a:cubicBezTo>
                      <a:pt x="561975" y="111125"/>
                      <a:pt x="593725" y="85725"/>
                      <a:pt x="657225" y="85725"/>
                    </a:cubicBezTo>
                    <a:lnTo>
                      <a:pt x="1047750" y="85725"/>
                    </a:lnTo>
                    <a:cubicBezTo>
                      <a:pt x="1092200" y="85725"/>
                      <a:pt x="1114425" y="57150"/>
                      <a:pt x="111442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591550" y="3686175"/>
                <a:ext cx="11239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23950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57200" y="85725"/>
                    </a:lnTo>
                    <a:cubicBezTo>
                      <a:pt x="520700" y="85725"/>
                      <a:pt x="552450" y="111125"/>
                      <a:pt x="552450" y="161925"/>
                    </a:cubicBezTo>
                    <a:cubicBezTo>
                      <a:pt x="552450" y="111125"/>
                      <a:pt x="584200" y="85725"/>
                      <a:pt x="647700" y="85725"/>
                    </a:cubicBezTo>
                    <a:lnTo>
                      <a:pt x="1047750" y="85725"/>
                    </a:lnTo>
                    <a:cubicBezTo>
                      <a:pt x="1098550" y="85725"/>
                      <a:pt x="1123950" y="57150"/>
                      <a:pt x="1123950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782175" y="3686175"/>
                <a:ext cx="866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342900" y="85725"/>
                    </a:lnTo>
                    <a:cubicBezTo>
                      <a:pt x="406400" y="85725"/>
                      <a:pt x="438150" y="111125"/>
                      <a:pt x="438150" y="161925"/>
                    </a:cubicBezTo>
                    <a:cubicBezTo>
                      <a:pt x="438150" y="111125"/>
                      <a:pt x="469900" y="85725"/>
                      <a:pt x="533400" y="85725"/>
                    </a:cubicBezTo>
                    <a:lnTo>
                      <a:pt x="790575" y="85725"/>
                    </a:lnTo>
                    <a:cubicBezTo>
                      <a:pt x="841375" y="85725"/>
                      <a:pt x="866775" y="57150"/>
                      <a:pt x="8667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0715625" y="3686175"/>
                <a:ext cx="13239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3239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561975" y="85725"/>
                    </a:lnTo>
                    <a:cubicBezTo>
                      <a:pt x="625475" y="85725"/>
                      <a:pt x="657225" y="111125"/>
                      <a:pt x="657225" y="161925"/>
                    </a:cubicBezTo>
                    <a:cubicBezTo>
                      <a:pt x="657225" y="111125"/>
                      <a:pt x="688975" y="85725"/>
                      <a:pt x="752475" y="85725"/>
                    </a:cubicBezTo>
                    <a:lnTo>
                      <a:pt x="1247775" y="85725"/>
                    </a:lnTo>
                    <a:cubicBezTo>
                      <a:pt x="1298575" y="85725"/>
                      <a:pt x="1323975" y="57150"/>
                      <a:pt x="13239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grpSp>
            <p:nvGrpSpPr>
              <p:cNvPr id="91" name="Group 91"/>
              <p:cNvGrpSpPr/>
              <p:nvPr/>
            </p:nvGrpSpPr>
            <p:grpSpPr>
              <a:xfrm>
                <a:off x="7475067" y="3909536"/>
                <a:ext cx="4767641" cy="556451"/>
                <a:chOff x="7475067" y="3909536"/>
                <a:chExt cx="4767641" cy="556451"/>
              </a:xfrm>
            </p:grpSpPr>
            <p:sp>
              <p:nvSpPr>
                <p:cNvPr id="85" name="TextBox 85"/>
                <p:cNvSpPr txBox="1"/>
                <p:nvPr/>
              </p:nvSpPr>
              <p:spPr>
                <a:xfrm>
                  <a:off x="7475067" y="3909536"/>
                  <a:ext cx="975666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Problem</a:t>
                  </a:r>
                </a:p>
              </p:txBody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8404601" y="3909536"/>
                  <a:ext cx="1516898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Wrong trace</a:t>
                  </a:r>
                </a:p>
              </p:txBody>
            </p:sp>
            <p:sp>
              <p:nvSpPr>
                <p:cNvPr id="87" name="TextBox 87"/>
                <p:cNvSpPr txBox="1"/>
                <p:nvPr/>
              </p:nvSpPr>
              <p:spPr>
                <a:xfrm>
                  <a:off x="9889322" y="3909536"/>
                  <a:ext cx="719155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Error</a:t>
                  </a:r>
                </a:p>
              </p:txBody>
            </p:sp>
            <p:sp>
              <p:nvSpPr>
                <p:cNvPr id="88" name="TextBox 88"/>
                <p:cNvSpPr txBox="1"/>
                <p:nvPr/>
              </p:nvSpPr>
              <p:spPr>
                <a:xfrm>
                  <a:off x="9897623" y="4128611"/>
                  <a:ext cx="702554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signal</a:t>
                  </a:r>
                </a:p>
              </p:txBody>
            </p:sp>
            <p:sp>
              <p:nvSpPr>
                <p:cNvPr id="89" name="TextBox 89"/>
                <p:cNvSpPr txBox="1"/>
                <p:nvPr/>
              </p:nvSpPr>
              <p:spPr>
                <a:xfrm>
                  <a:off x="11092790" y="3909536"/>
                  <a:ext cx="655371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Solve</a:t>
                  </a:r>
                </a:p>
              </p:txBody>
            </p:sp>
            <p:sp>
              <p:nvSpPr>
                <p:cNvPr id="90" name="TextBox 90"/>
                <p:cNvSpPr txBox="1"/>
                <p:nvPr/>
              </p:nvSpPr>
              <p:spPr>
                <a:xfrm>
                  <a:off x="10598241" y="4128611"/>
                  <a:ext cx="1644467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independently</a:t>
                  </a:r>
                </a:p>
              </p:txBody>
            </p:sp>
          </p:grpSp>
        </p:grpSp>
        <p:grpSp>
          <p:nvGrpSpPr>
            <p:cNvPr id="114" name="Group 114"/>
            <p:cNvGrpSpPr/>
            <p:nvPr/>
          </p:nvGrpSpPr>
          <p:grpSpPr>
            <a:xfrm>
              <a:off x="12544425" y="2524125"/>
              <a:ext cx="2881312" cy="1257300"/>
              <a:chOff x="12544425" y="2524125"/>
              <a:chExt cx="2881312" cy="1257300"/>
            </a:xfrm>
          </p:grpSpPr>
          <p:sp>
            <p:nvSpPr>
              <p:cNvPr id="93" name="Rectangle 93"/>
              <p:cNvSpPr/>
              <p:nvPr/>
            </p:nvSpPr>
            <p:spPr>
              <a:xfrm>
                <a:off x="12620625" y="2524125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13468350" y="2524125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95" name="Rectangle 95"/>
              <p:cNvSpPr/>
              <p:nvPr/>
            </p:nvSpPr>
            <p:spPr>
              <a:xfrm>
                <a:off x="14297025" y="2524125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96" name="Line 96"/>
              <p:cNvSpPr/>
              <p:nvPr/>
            </p:nvSpPr>
            <p:spPr>
              <a:xfrm>
                <a:off x="12830175" y="294322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97" name="Line 97"/>
              <p:cNvSpPr/>
              <p:nvPr/>
            </p:nvSpPr>
            <p:spPr>
              <a:xfrm>
                <a:off x="13677900" y="294322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81413E"/>
                </a:solidFill>
                <a:tailEnd type="triangle" w="lg" len="lg"/>
              </a:ln>
            </p:spPr>
          </p:sp>
          <p:sp>
            <p:nvSpPr>
              <p:cNvPr id="98" name="Line 98"/>
              <p:cNvSpPr/>
              <p:nvPr/>
            </p:nvSpPr>
            <p:spPr>
              <a:xfrm>
                <a:off x="14535150" y="294322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81413E"/>
                </a:solidFill>
                <a:tailEnd type="triangle" w="lg" len="lg"/>
              </a:ln>
            </p:spPr>
          </p:sp>
          <p:sp>
            <p:nvSpPr>
              <p:cNvPr id="99" name="Rectangle 99"/>
              <p:cNvSpPr/>
              <p:nvPr/>
            </p:nvSpPr>
            <p:spPr>
              <a:xfrm>
                <a:off x="12544425" y="327660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13401675" y="327660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101" name="Rectangle 101"/>
              <p:cNvSpPr/>
              <p:nvPr/>
            </p:nvSpPr>
            <p:spPr>
              <a:xfrm>
                <a:off x="14258925" y="3276600"/>
                <a:ext cx="571500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FF7F6"/>
                  </a:gs>
                  <a:gs pos="60000">
                    <a:srgbClr val="FADDDC"/>
                  </a:gs>
                  <a:gs pos="100000">
                    <a:srgbClr val="FFF6F5"/>
                  </a:gs>
                </a:gsLst>
                <a:lin ang="2700000" scaled="1"/>
              </a:gradFill>
              <a:ln w="9525">
                <a:solidFill>
                  <a:srgbClr val="E86F70"/>
                </a:solidFill>
              </a:ln>
            </p:spPr>
          </p:sp>
          <p:sp>
            <p:nvSpPr>
              <p:cNvPr id="102" name="Line 102"/>
              <p:cNvSpPr/>
              <p:nvPr/>
            </p:nvSpPr>
            <p:spPr>
              <a:xfrm>
                <a:off x="13115925" y="3533775"/>
                <a:ext cx="247650" cy="1"/>
              </a:xfrm>
              <a:prstGeom prst="line">
                <a:avLst/>
              </a:prstGeom>
              <a:noFill/>
              <a:ln w="15240">
                <a:solidFill>
                  <a:srgbClr val="81413E"/>
                </a:solidFill>
                <a:tailEnd type="triangle" w="lg" len="lg"/>
              </a:ln>
            </p:spPr>
          </p:sp>
          <p:sp>
            <p:nvSpPr>
              <p:cNvPr id="103" name="Line 103"/>
              <p:cNvSpPr/>
              <p:nvPr/>
            </p:nvSpPr>
            <p:spPr>
              <a:xfrm>
                <a:off x="13982700" y="3533775"/>
                <a:ext cx="228600" cy="1"/>
              </a:xfrm>
              <a:prstGeom prst="line">
                <a:avLst/>
              </a:prstGeom>
              <a:noFill/>
              <a:ln w="15240">
                <a:solidFill>
                  <a:srgbClr val="81413E"/>
                </a:solidFill>
                <a:tailEnd type="triangle" w="lg" len="lg"/>
              </a:ln>
            </p:spPr>
          </p:sp>
          <p:grpSp>
            <p:nvGrpSpPr>
              <p:cNvPr id="110" name="Group 110"/>
              <p:cNvGrpSpPr/>
              <p:nvPr/>
            </p:nvGrpSpPr>
            <p:grpSpPr>
              <a:xfrm>
                <a:off x="12689576" y="2553176"/>
                <a:ext cx="1995698" cy="1205675"/>
                <a:chOff x="12689576" y="2553176"/>
                <a:chExt cx="1995698" cy="1205675"/>
              </a:xfrm>
            </p:grpSpPr>
            <p:sp>
              <p:nvSpPr>
                <p:cNvPr id="104" name="TextBox 104"/>
                <p:cNvSpPr txBox="1"/>
                <p:nvPr/>
              </p:nvSpPr>
              <p:spPr>
                <a:xfrm>
                  <a:off x="12692537" y="255317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105" name="TextBox 105"/>
                <p:cNvSpPr txBox="1"/>
                <p:nvPr/>
              </p:nvSpPr>
              <p:spPr>
                <a:xfrm>
                  <a:off x="13540262" y="255317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14368937" y="255317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07" name="TextBox 107"/>
                <p:cNvSpPr txBox="1"/>
                <p:nvPr/>
              </p:nvSpPr>
              <p:spPr>
                <a:xfrm>
                  <a:off x="12689576" y="336280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08" name="TextBox 108"/>
                <p:cNvSpPr txBox="1"/>
                <p:nvPr/>
              </p:nvSpPr>
              <p:spPr>
                <a:xfrm>
                  <a:off x="13537301" y="336280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09" name="TextBox 109"/>
                <p:cNvSpPr txBox="1"/>
                <p:nvPr/>
              </p:nvSpPr>
              <p:spPr>
                <a:xfrm>
                  <a:off x="14404076" y="336280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</a:p>
              </p:txBody>
            </p:sp>
          </p:grpSp>
          <p:sp>
            <p:nvSpPr>
              <p:cNvPr id="111" name="Ellipse 111"/>
              <p:cNvSpPr/>
              <p:nvPr/>
            </p:nvSpPr>
            <p:spPr>
              <a:xfrm>
                <a:off x="15073312" y="350043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12" name="Ellipse 112"/>
              <p:cNvSpPr/>
              <p:nvPr/>
            </p:nvSpPr>
            <p:spPr>
              <a:xfrm>
                <a:off x="15216188" y="350043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15359062" y="350043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</p:grpSp>
      </p:grpSp>
      <p:grpSp>
        <p:nvGrpSpPr>
          <p:cNvPr id="197" name="Group 197"/>
          <p:cNvGrpSpPr/>
          <p:nvPr/>
        </p:nvGrpSpPr>
        <p:grpSpPr>
          <a:xfrm>
            <a:off x="7210425" y="4838700"/>
            <a:ext cx="8477250" cy="3400425"/>
            <a:chOff x="7210425" y="4838700"/>
            <a:chExt cx="8477250" cy="3400425"/>
          </a:xfrm>
        </p:grpSpPr>
        <p:sp>
          <p:nvSpPr>
            <p:cNvPr id="116" name="Rectangle 116"/>
            <p:cNvSpPr/>
            <p:nvPr/>
          </p:nvSpPr>
          <p:spPr>
            <a:xfrm>
              <a:off x="7210425" y="4838700"/>
              <a:ext cx="8477250" cy="3400425"/>
            </a:xfrm>
            <a:prstGeom prst="roundRect">
              <a:avLst>
                <a:gd name="adj" fmla="val 4202"/>
              </a:avLst>
            </a:prstGeom>
            <a:gradFill>
              <a:gsLst>
                <a:gs pos="0">
                  <a:srgbClr val="F0FCFB"/>
                </a:gs>
                <a:gs pos="50000">
                  <a:srgbClr val="E7F9F9"/>
                </a:gs>
                <a:gs pos="100000">
                  <a:srgbClr val="F2FCFB"/>
                </a:gs>
              </a:gsLst>
              <a:lin ang="2700000" scaled="1"/>
            </a:gradFill>
            <a:ln w="8572">
              <a:solidFill>
                <a:srgbClr val="67D5D9"/>
              </a:solidFill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7448550" y="5029200"/>
              <a:ext cx="866775" cy="5143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00A1AA"/>
                </a:gs>
                <a:gs pos="50000">
                  <a:srgbClr val="00858D"/>
                </a:gs>
                <a:gs pos="100000">
                  <a:srgbClr val="00969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615504" y="5095875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R3</a:t>
              </a:r>
            </a:p>
          </p:txBody>
        </p:sp>
        <p:sp>
          <p:nvSpPr>
            <p:cNvPr id="119" name="Line 119"/>
            <p:cNvSpPr/>
            <p:nvPr/>
          </p:nvSpPr>
          <p:spPr>
            <a:xfrm>
              <a:off x="8553450" y="5076825"/>
              <a:ext cx="9525" cy="428625"/>
            </a:xfrm>
            <a:custGeom>
              <a:avLst/>
              <a:gdLst/>
              <a:ahLst/>
              <a:cxnLst/>
              <a:rect l="l" t="t" r="r" b="b"/>
              <a:pathLst>
                <a:path w="9525" h="428625">
                  <a:moveTo>
                    <a:pt x="0" y="0"/>
                  </a:moveTo>
                  <a:lnTo>
                    <a:pt x="0" y="428625"/>
                  </a:lnTo>
                </a:path>
              </a:pathLst>
            </a:custGeom>
            <a:noFill/>
            <a:ln w="17145">
              <a:solidFill>
                <a:srgbClr val="008993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8777859" y="5109210"/>
              <a:ext cx="41079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007982"/>
                  </a:solidFill>
                  <a:latin typeface="Times New Roman"/>
                  <a:ea typeface="Times New Roman"/>
                  <a:cs typeface="Times New Roman"/>
                </a:rPr>
                <a:t>Late access blocking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2886334" y="4996815"/>
              <a:ext cx="25914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24536B"/>
                  </a:solidFill>
                  <a:latin typeface="Times New Roman"/>
                  <a:ea typeface="Times New Roman"/>
                  <a:cs typeface="Times New Roman"/>
                </a:rPr>
                <a:t>block q₁, q₂, q₃, … →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2755844" y="5263515"/>
              <a:ext cx="27219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i="1" dirty="0">
                  <a:solidFill>
                    <a:srgbClr val="24536B"/>
                  </a:solidFill>
                  <a:latin typeface="Times New Roman"/>
                  <a:ea typeface="Times New Roman"/>
                  <a:cs typeface="Times New Roman"/>
                </a:rPr>
                <a:t>failed-trace K/V only</a:t>
              </a:r>
            </a:p>
          </p:txBody>
        </p:sp>
        <p:grpSp>
          <p:nvGrpSpPr>
            <p:cNvPr id="128" name="Group 128"/>
            <p:cNvGrpSpPr/>
            <p:nvPr/>
          </p:nvGrpSpPr>
          <p:grpSpPr>
            <a:xfrm>
              <a:off x="8743950" y="5305425"/>
              <a:ext cx="4019550" cy="1552575"/>
              <a:chOff x="8743950" y="5305425"/>
              <a:chExt cx="4019550" cy="1552575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8743950" y="5305425"/>
                <a:ext cx="4019550" cy="1552575"/>
              </a:xfrm>
              <a:custGeom>
                <a:avLst/>
                <a:gdLst/>
                <a:ahLst/>
                <a:cxnLst/>
                <a:rect l="l" t="t" r="r" b="b"/>
                <a:pathLst>
                  <a:path w="4019550" h="1552575">
                    <a:moveTo>
                      <a:pt x="4019550" y="885825"/>
                    </a:moveTo>
                    <a:cubicBezTo>
                      <a:pt x="3924300" y="0"/>
                      <a:pt x="495300" y="114300"/>
                      <a:pt x="0" y="15525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9105900" y="5429250"/>
                <a:ext cx="36576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3657600" h="1428750">
                    <a:moveTo>
                      <a:pt x="3657600" y="762000"/>
                    </a:moveTo>
                    <a:cubicBezTo>
                      <a:pt x="3371850" y="0"/>
                      <a:pt x="590550" y="161925"/>
                      <a:pt x="0" y="142875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5" name="Freeform 125"/>
              <p:cNvSpPr/>
              <p:nvPr/>
            </p:nvSpPr>
            <p:spPr>
              <a:xfrm>
                <a:off x="9525000" y="5524500"/>
                <a:ext cx="323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333500">
                    <a:moveTo>
                      <a:pt x="3238500" y="666750"/>
                    </a:moveTo>
                    <a:cubicBezTo>
                      <a:pt x="2857500" y="0"/>
                      <a:pt x="571500" y="247650"/>
                      <a:pt x="0" y="1333500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6" name="Freeform 126"/>
              <p:cNvSpPr/>
              <p:nvPr/>
            </p:nvSpPr>
            <p:spPr>
              <a:xfrm>
                <a:off x="9953625" y="5553075"/>
                <a:ext cx="2809875" cy="1304925"/>
              </a:xfrm>
              <a:custGeom>
                <a:avLst/>
                <a:gdLst/>
                <a:ahLst/>
                <a:cxnLst/>
                <a:rect l="l" t="t" r="r" b="b"/>
                <a:pathLst>
                  <a:path w="2809875" h="1304925">
                    <a:moveTo>
                      <a:pt x="2809875" y="638175"/>
                    </a:moveTo>
                    <a:cubicBezTo>
                      <a:pt x="2333625" y="0"/>
                      <a:pt x="533400" y="333375"/>
                      <a:pt x="0" y="130492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  <p:sp>
            <p:nvSpPr>
              <p:cNvPr id="127" name="Freeform 127"/>
              <p:cNvSpPr/>
              <p:nvPr/>
            </p:nvSpPr>
            <p:spPr>
              <a:xfrm>
                <a:off x="10353675" y="5648325"/>
                <a:ext cx="2409825" cy="1209675"/>
              </a:xfrm>
              <a:custGeom>
                <a:avLst/>
                <a:gdLst/>
                <a:ahLst/>
                <a:cxnLst/>
                <a:rect l="l" t="t" r="r" b="b"/>
                <a:pathLst>
                  <a:path w="2409825" h="1209675">
                    <a:moveTo>
                      <a:pt x="2409825" y="542925"/>
                    </a:moveTo>
                    <a:cubicBezTo>
                      <a:pt x="2076450" y="0"/>
                      <a:pt x="466725" y="381000"/>
                      <a:pt x="0" y="1209675"/>
                    </a:cubicBezTo>
                  </a:path>
                </a:pathLst>
              </a:custGeom>
              <a:noFill/>
              <a:ln w="17145">
                <a:solidFill>
                  <a:srgbClr val="96A7B3"/>
                </a:solidFill>
                <a:custDash>
                  <a:ds d="666667" sp="388889"/>
                </a:custDash>
                <a:tailEnd type="triangle" w="lg" len="lg"/>
              </a:ln>
            </p:spPr>
          </p:sp>
        </p:grpSp>
        <p:grpSp>
          <p:nvGrpSpPr>
            <p:cNvPr id="138" name="Group 138"/>
            <p:cNvGrpSpPr/>
            <p:nvPr/>
          </p:nvGrpSpPr>
          <p:grpSpPr>
            <a:xfrm>
              <a:off x="9334500" y="5295900"/>
              <a:ext cx="5086350" cy="1562100"/>
              <a:chOff x="9334500" y="5295900"/>
              <a:chExt cx="5086350" cy="1562100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9334500" y="5295900"/>
                <a:ext cx="342900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895350">
                    <a:moveTo>
                      <a:pt x="3429000" y="895350"/>
                    </a:moveTo>
                    <a:cubicBezTo>
                      <a:pt x="3143250" y="0"/>
                      <a:pt x="581025" y="257175"/>
                      <a:pt x="0" y="866775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10287000" y="5314950"/>
                <a:ext cx="2476500" cy="876300"/>
              </a:xfrm>
              <a:custGeom>
                <a:avLst/>
                <a:gdLst/>
                <a:ahLst/>
                <a:cxnLst/>
                <a:rect l="l" t="t" r="r" b="b"/>
                <a:pathLst>
                  <a:path w="2476500" h="876300">
                    <a:moveTo>
                      <a:pt x="2476500" y="876300"/>
                    </a:moveTo>
                    <a:cubicBezTo>
                      <a:pt x="2247900" y="0"/>
                      <a:pt x="866775" y="304800"/>
                      <a:pt x="0" y="8382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10753725" y="5734050"/>
                <a:ext cx="20097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009775" h="1123950">
                    <a:moveTo>
                      <a:pt x="2009775" y="457200"/>
                    </a:moveTo>
                    <a:cubicBezTo>
                      <a:pt x="1628775" y="0"/>
                      <a:pt x="438150" y="352425"/>
                      <a:pt x="0" y="112395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11449050" y="5876925"/>
                <a:ext cx="1314450" cy="981075"/>
              </a:xfrm>
              <a:custGeom>
                <a:avLst/>
                <a:gdLst/>
                <a:ahLst/>
                <a:cxnLst/>
                <a:rect l="l" t="t" r="r" b="b"/>
                <a:pathLst>
                  <a:path w="1314450" h="981075">
                    <a:moveTo>
                      <a:pt x="1314450" y="314325"/>
                    </a:moveTo>
                    <a:cubicBezTo>
                      <a:pt x="962025" y="0"/>
                      <a:pt x="152400" y="323850"/>
                      <a:pt x="0" y="981075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11763375" y="6019800"/>
                <a:ext cx="1000125" cy="838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838200">
                    <a:moveTo>
                      <a:pt x="1000125" y="171450"/>
                    </a:moveTo>
                    <a:cubicBezTo>
                      <a:pt x="771525" y="0"/>
                      <a:pt x="238125" y="285750"/>
                      <a:pt x="0" y="8382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10668000" y="5457825"/>
                <a:ext cx="296227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2962275" h="723900">
                    <a:moveTo>
                      <a:pt x="0" y="295275"/>
                    </a:moveTo>
                    <a:cubicBezTo>
                      <a:pt x="762000" y="0"/>
                      <a:pt x="2619375" y="9525"/>
                      <a:pt x="2962275" y="7239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11144250" y="5476875"/>
                <a:ext cx="3276600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3276600" h="704850">
                    <a:moveTo>
                      <a:pt x="0" y="323850"/>
                    </a:moveTo>
                    <a:cubicBezTo>
                      <a:pt x="809625" y="0"/>
                      <a:pt x="2962275" y="9525"/>
                      <a:pt x="3276600" y="70485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6" name="Freeform 136"/>
              <p:cNvSpPr/>
              <p:nvPr/>
            </p:nvSpPr>
            <p:spPr>
              <a:xfrm>
                <a:off x="12192000" y="5695950"/>
                <a:ext cx="1419225" cy="485775"/>
              </a:xfrm>
              <a:custGeom>
                <a:avLst/>
                <a:gdLst/>
                <a:ahLst/>
                <a:cxnLst/>
                <a:rect l="l" t="t" r="r" b="b"/>
                <a:pathLst>
                  <a:path w="1419225" h="485775">
                    <a:moveTo>
                      <a:pt x="0" y="95250"/>
                    </a:moveTo>
                    <a:cubicBezTo>
                      <a:pt x="495300" y="0"/>
                      <a:pt x="1143000" y="152400"/>
                      <a:pt x="1419225" y="485775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  <p:sp>
            <p:nvSpPr>
              <p:cNvPr id="137" name="Freeform 137"/>
              <p:cNvSpPr/>
              <p:nvPr/>
            </p:nvSpPr>
            <p:spPr>
              <a:xfrm>
                <a:off x="12573000" y="5572125"/>
                <a:ext cx="184785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609600">
                    <a:moveTo>
                      <a:pt x="0" y="114300"/>
                    </a:moveTo>
                    <a:cubicBezTo>
                      <a:pt x="647700" y="0"/>
                      <a:pt x="1495425" y="200025"/>
                      <a:pt x="1847850" y="609600"/>
                    </a:cubicBezTo>
                  </a:path>
                </a:pathLst>
              </a:custGeom>
              <a:noFill/>
              <a:ln w="17145">
                <a:solidFill>
                  <a:srgbClr val="008B94"/>
                </a:solidFill>
                <a:tailEnd type="triangle" w="lg" len="lg"/>
              </a:ln>
            </p:spPr>
          </p:sp>
        </p:grpSp>
        <p:grpSp>
          <p:nvGrpSpPr>
            <p:cNvPr id="145" name="Group 145"/>
            <p:cNvGrpSpPr/>
            <p:nvPr/>
          </p:nvGrpSpPr>
          <p:grpSpPr>
            <a:xfrm>
              <a:off x="9382125" y="6286500"/>
              <a:ext cx="1333500" cy="152400"/>
              <a:chOff x="9382125" y="6286500"/>
              <a:chExt cx="1333500" cy="152400"/>
            </a:xfrm>
          </p:grpSpPr>
          <p:sp>
            <p:nvSpPr>
              <p:cNvPr id="139" name="Line 139"/>
              <p:cNvSpPr/>
              <p:nvPr/>
            </p:nvSpPr>
            <p:spPr>
              <a:xfrm>
                <a:off x="93821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0" name="Line 140"/>
              <p:cNvSpPr/>
              <p:nvPr/>
            </p:nvSpPr>
            <p:spPr>
              <a:xfrm>
                <a:off x="93821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1" name="Line 141"/>
              <p:cNvSpPr/>
              <p:nvPr/>
            </p:nvSpPr>
            <p:spPr>
              <a:xfrm>
                <a:off x="9963150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2" name="Line 142"/>
              <p:cNvSpPr/>
              <p:nvPr/>
            </p:nvSpPr>
            <p:spPr>
              <a:xfrm>
                <a:off x="9963150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3" name="Line 143"/>
              <p:cNvSpPr/>
              <p:nvPr/>
            </p:nvSpPr>
            <p:spPr>
              <a:xfrm>
                <a:off x="105632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  <p:sp>
            <p:nvSpPr>
              <p:cNvPr id="144" name="Line 144"/>
              <p:cNvSpPr/>
              <p:nvPr/>
            </p:nvSpPr>
            <p:spPr>
              <a:xfrm>
                <a:off x="10563225" y="62865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524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rgbClr val="F04C3E"/>
                </a:solidFill>
              </a:ln>
            </p:spPr>
          </p:sp>
        </p:grpSp>
        <p:grpSp>
          <p:nvGrpSpPr>
            <p:cNvPr id="174" name="Group 174"/>
            <p:cNvGrpSpPr/>
            <p:nvPr/>
          </p:nvGrpSpPr>
          <p:grpSpPr>
            <a:xfrm>
              <a:off x="7410450" y="6877050"/>
              <a:ext cx="4832258" cy="1265587"/>
              <a:chOff x="7410450" y="6877050"/>
              <a:chExt cx="4832258" cy="1265587"/>
            </a:xfrm>
          </p:grpSpPr>
          <p:sp>
            <p:nvSpPr>
              <p:cNvPr id="146" name="Rectangle 146"/>
              <p:cNvSpPr/>
              <p:nvPr/>
            </p:nvSpPr>
            <p:spPr>
              <a:xfrm>
                <a:off x="7410450" y="6877050"/>
                <a:ext cx="4629150" cy="419100"/>
              </a:xfrm>
              <a:prstGeom prst="roundRect">
                <a:avLst>
                  <a:gd name="adj" fmla="val 18182"/>
                </a:avLst>
              </a:prstGeom>
              <a:solidFill>
                <a:srgbClr val="FFFFFF"/>
              </a:solidFill>
              <a:ln w="12382">
                <a:solidFill>
                  <a:srgbClr val="BACBD5"/>
                </a:solidFill>
              </a:ln>
            </p:spPr>
          </p:sp>
          <p:sp>
            <p:nvSpPr>
              <p:cNvPr id="147" name="Rectangle 147"/>
              <p:cNvSpPr/>
              <p:nvPr/>
            </p:nvSpPr>
            <p:spPr>
              <a:xfrm>
                <a:off x="74676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77533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49" name="Rectangle 149"/>
              <p:cNvSpPr/>
              <p:nvPr/>
            </p:nvSpPr>
            <p:spPr>
              <a:xfrm>
                <a:off x="80391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831532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1" name="Rectangle 151"/>
              <p:cNvSpPr/>
              <p:nvPr/>
            </p:nvSpPr>
            <p:spPr>
              <a:xfrm>
                <a:off x="860107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888682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3" name="Rectangle 153"/>
              <p:cNvSpPr/>
              <p:nvPr/>
            </p:nvSpPr>
            <p:spPr>
              <a:xfrm>
                <a:off x="917257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94488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FFABAF"/>
                  </a:gs>
                  <a:gs pos="50000">
                    <a:srgbClr val="FF9298"/>
                  </a:gs>
                  <a:gs pos="100000">
                    <a:srgbClr val="FFB2B3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5" name="Rectangle 155"/>
              <p:cNvSpPr/>
              <p:nvPr/>
            </p:nvSpPr>
            <p:spPr>
              <a:xfrm>
                <a:off x="978217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100584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7" name="Rectangle 157"/>
              <p:cNvSpPr/>
              <p:nvPr/>
            </p:nvSpPr>
            <p:spPr>
              <a:xfrm>
                <a:off x="103441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10639425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59" name="Rectangle 159"/>
              <p:cNvSpPr/>
              <p:nvPr/>
            </p:nvSpPr>
            <p:spPr>
              <a:xfrm>
                <a:off x="109156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1120140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1" name="Rectangle 161"/>
              <p:cNvSpPr/>
              <p:nvPr/>
            </p:nvSpPr>
            <p:spPr>
              <a:xfrm>
                <a:off x="11487150" y="6934200"/>
                <a:ext cx="238125" cy="304800"/>
              </a:xfrm>
              <a:prstGeom prst="roundRect">
                <a:avLst>
                  <a:gd name="adj" fmla="val 16000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11763375" y="6934200"/>
                <a:ext cx="228600" cy="3048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C7D0D5"/>
                  </a:gs>
                  <a:gs pos="50000">
                    <a:srgbClr val="B7C2C9"/>
                  </a:gs>
                  <a:gs pos="100000">
                    <a:srgbClr val="CCD5DA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163" name="Freeform 163"/>
              <p:cNvSpPr/>
              <p:nvPr/>
            </p:nvSpPr>
            <p:spPr>
              <a:xfrm>
                <a:off x="7410450" y="7362825"/>
                <a:ext cx="11144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1442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66725" y="85725"/>
                    </a:lnTo>
                    <a:cubicBezTo>
                      <a:pt x="530225" y="85725"/>
                      <a:pt x="561975" y="111125"/>
                      <a:pt x="561975" y="161925"/>
                    </a:cubicBezTo>
                    <a:cubicBezTo>
                      <a:pt x="561975" y="111125"/>
                      <a:pt x="593725" y="85725"/>
                      <a:pt x="657225" y="85725"/>
                    </a:cubicBezTo>
                    <a:lnTo>
                      <a:pt x="1047750" y="85725"/>
                    </a:lnTo>
                    <a:cubicBezTo>
                      <a:pt x="1092200" y="85725"/>
                      <a:pt x="1114425" y="57150"/>
                      <a:pt x="111442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64" name="Freeform 164"/>
              <p:cNvSpPr/>
              <p:nvPr/>
            </p:nvSpPr>
            <p:spPr>
              <a:xfrm>
                <a:off x="8591550" y="7362825"/>
                <a:ext cx="112395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123950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457200" y="85725"/>
                    </a:lnTo>
                    <a:cubicBezTo>
                      <a:pt x="520700" y="85725"/>
                      <a:pt x="552450" y="111125"/>
                      <a:pt x="552450" y="161925"/>
                    </a:cubicBezTo>
                    <a:cubicBezTo>
                      <a:pt x="552450" y="111125"/>
                      <a:pt x="584200" y="85725"/>
                      <a:pt x="647700" y="85725"/>
                    </a:cubicBezTo>
                    <a:lnTo>
                      <a:pt x="1047750" y="85725"/>
                    </a:lnTo>
                    <a:cubicBezTo>
                      <a:pt x="1098550" y="85725"/>
                      <a:pt x="1123950" y="57150"/>
                      <a:pt x="1123950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65" name="Freeform 165"/>
              <p:cNvSpPr/>
              <p:nvPr/>
            </p:nvSpPr>
            <p:spPr>
              <a:xfrm>
                <a:off x="9782175" y="7362825"/>
                <a:ext cx="8667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667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342900" y="85725"/>
                    </a:lnTo>
                    <a:cubicBezTo>
                      <a:pt x="406400" y="85725"/>
                      <a:pt x="438150" y="111125"/>
                      <a:pt x="438150" y="161925"/>
                    </a:cubicBezTo>
                    <a:cubicBezTo>
                      <a:pt x="438150" y="111125"/>
                      <a:pt x="469900" y="85725"/>
                      <a:pt x="533400" y="85725"/>
                    </a:cubicBezTo>
                    <a:lnTo>
                      <a:pt x="790575" y="85725"/>
                    </a:lnTo>
                    <a:cubicBezTo>
                      <a:pt x="841375" y="85725"/>
                      <a:pt x="866775" y="57150"/>
                      <a:pt x="8667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sp>
            <p:nvSpPr>
              <p:cNvPr id="166" name="Freeform 166"/>
              <p:cNvSpPr/>
              <p:nvPr/>
            </p:nvSpPr>
            <p:spPr>
              <a:xfrm>
                <a:off x="10715625" y="7362825"/>
                <a:ext cx="132397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323975" h="161925">
                    <a:moveTo>
                      <a:pt x="0" y="0"/>
                    </a:moveTo>
                    <a:cubicBezTo>
                      <a:pt x="0" y="57150"/>
                      <a:pt x="25400" y="85725"/>
                      <a:pt x="76200" y="85725"/>
                    </a:cubicBezTo>
                    <a:lnTo>
                      <a:pt x="561975" y="85725"/>
                    </a:lnTo>
                    <a:cubicBezTo>
                      <a:pt x="625475" y="85725"/>
                      <a:pt x="657225" y="111125"/>
                      <a:pt x="657225" y="161925"/>
                    </a:cubicBezTo>
                    <a:cubicBezTo>
                      <a:pt x="657225" y="111125"/>
                      <a:pt x="688975" y="85725"/>
                      <a:pt x="752475" y="85725"/>
                    </a:cubicBezTo>
                    <a:lnTo>
                      <a:pt x="1247775" y="85725"/>
                    </a:lnTo>
                    <a:cubicBezTo>
                      <a:pt x="1298575" y="85725"/>
                      <a:pt x="1323975" y="57150"/>
                      <a:pt x="1323975" y="0"/>
                    </a:cubicBezTo>
                  </a:path>
                </a:pathLst>
              </a:custGeom>
              <a:noFill/>
              <a:ln w="19050">
                <a:solidFill>
                  <a:srgbClr val="1F405C"/>
                </a:solidFill>
              </a:ln>
            </p:spPr>
          </p:sp>
          <p:grpSp>
            <p:nvGrpSpPr>
              <p:cNvPr id="173" name="Group 173"/>
              <p:cNvGrpSpPr/>
              <p:nvPr/>
            </p:nvGrpSpPr>
            <p:grpSpPr>
              <a:xfrm>
                <a:off x="7475067" y="7586186"/>
                <a:ext cx="4767641" cy="556451"/>
                <a:chOff x="7475067" y="7586186"/>
                <a:chExt cx="4767641" cy="556451"/>
              </a:xfrm>
            </p:grpSpPr>
            <p:sp>
              <p:nvSpPr>
                <p:cNvPr id="167" name="TextBox 167"/>
                <p:cNvSpPr txBox="1"/>
                <p:nvPr/>
              </p:nvSpPr>
              <p:spPr>
                <a:xfrm>
                  <a:off x="7475067" y="7586186"/>
                  <a:ext cx="975666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Problem</a:t>
                  </a:r>
                </a:p>
              </p:txBody>
            </p:sp>
            <p:sp>
              <p:nvSpPr>
                <p:cNvPr id="168" name="TextBox 168"/>
                <p:cNvSpPr txBox="1"/>
                <p:nvPr/>
              </p:nvSpPr>
              <p:spPr>
                <a:xfrm>
                  <a:off x="8404601" y="7586186"/>
                  <a:ext cx="1516898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Wrong trace</a:t>
                  </a:r>
                </a:p>
              </p:txBody>
            </p:sp>
            <p:sp>
              <p:nvSpPr>
                <p:cNvPr id="169" name="TextBox 169"/>
                <p:cNvSpPr txBox="1"/>
                <p:nvPr/>
              </p:nvSpPr>
              <p:spPr>
                <a:xfrm>
                  <a:off x="9889322" y="7586186"/>
                  <a:ext cx="719155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Error</a:t>
                  </a:r>
                </a:p>
              </p:txBody>
            </p:sp>
            <p:sp>
              <p:nvSpPr>
                <p:cNvPr id="170" name="TextBox 170"/>
                <p:cNvSpPr txBox="1"/>
                <p:nvPr/>
              </p:nvSpPr>
              <p:spPr>
                <a:xfrm>
                  <a:off x="9897623" y="7805261"/>
                  <a:ext cx="702554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signal</a:t>
                  </a:r>
                </a:p>
              </p:txBody>
            </p:sp>
            <p:sp>
              <p:nvSpPr>
                <p:cNvPr id="171" name="TextBox 171"/>
                <p:cNvSpPr txBox="1"/>
                <p:nvPr/>
              </p:nvSpPr>
              <p:spPr>
                <a:xfrm>
                  <a:off x="11092790" y="7586186"/>
                  <a:ext cx="655371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Solve</a:t>
                  </a:r>
                </a:p>
              </p:txBody>
            </p:sp>
            <p:sp>
              <p:nvSpPr>
                <p:cNvPr id="172" name="TextBox 172"/>
                <p:cNvSpPr txBox="1"/>
                <p:nvPr/>
              </p:nvSpPr>
              <p:spPr>
                <a:xfrm>
                  <a:off x="10598241" y="7805261"/>
                  <a:ext cx="1644467" cy="33737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720" dirty="0">
                      <a:solidFill>
                        <a:srgbClr val="193952"/>
                      </a:solidFill>
                      <a:latin typeface="Times New Roman"/>
                      <a:ea typeface="Times New Roman"/>
                      <a:cs typeface="Times New Roman"/>
                    </a:rPr>
                    <a:t>independently</a:t>
                  </a:r>
                </a:p>
              </p:txBody>
            </p:sp>
          </p:grpSp>
        </p:grpSp>
        <p:grpSp>
          <p:nvGrpSpPr>
            <p:cNvPr id="196" name="Group 196"/>
            <p:cNvGrpSpPr/>
            <p:nvPr/>
          </p:nvGrpSpPr>
          <p:grpSpPr>
            <a:xfrm>
              <a:off x="12544425" y="6191250"/>
              <a:ext cx="2881312" cy="1266825"/>
              <a:chOff x="12544425" y="6191250"/>
              <a:chExt cx="2881312" cy="1266825"/>
            </a:xfrm>
          </p:grpSpPr>
          <p:sp>
            <p:nvSpPr>
              <p:cNvPr id="175" name="Rectangle 175"/>
              <p:cNvSpPr/>
              <p:nvPr/>
            </p:nvSpPr>
            <p:spPr>
              <a:xfrm>
                <a:off x="12620625" y="6191250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76" name="Rectangle 176"/>
              <p:cNvSpPr/>
              <p:nvPr/>
            </p:nvSpPr>
            <p:spPr>
              <a:xfrm>
                <a:off x="13468350" y="6191250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77" name="Rectangle 177"/>
              <p:cNvSpPr/>
              <p:nvPr/>
            </p:nvSpPr>
            <p:spPr>
              <a:xfrm>
                <a:off x="14297025" y="6191250"/>
                <a:ext cx="428625" cy="381000"/>
              </a:xfrm>
              <a:prstGeom prst="roundRect">
                <a:avLst>
                  <a:gd name="adj" fmla="val 20000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78" name="Line 178"/>
              <p:cNvSpPr/>
              <p:nvPr/>
            </p:nvSpPr>
            <p:spPr>
              <a:xfrm>
                <a:off x="12830175" y="661987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79" name="Line 179"/>
              <p:cNvSpPr/>
              <p:nvPr/>
            </p:nvSpPr>
            <p:spPr>
              <a:xfrm>
                <a:off x="13677900" y="661987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80" name="Line 180"/>
              <p:cNvSpPr/>
              <p:nvPr/>
            </p:nvSpPr>
            <p:spPr>
              <a:xfrm>
                <a:off x="14535150" y="6619875"/>
                <a:ext cx="1" cy="304800"/>
              </a:xfrm>
              <a:prstGeom prst="line">
                <a:avLst/>
              </a:prstGeom>
              <a:noFill/>
              <a:ln w="17145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81" name="Rectangle 181"/>
              <p:cNvSpPr/>
              <p:nvPr/>
            </p:nvSpPr>
            <p:spPr>
              <a:xfrm>
                <a:off x="12544425" y="695325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82" name="Rectangle 182"/>
              <p:cNvSpPr/>
              <p:nvPr/>
            </p:nvSpPr>
            <p:spPr>
              <a:xfrm>
                <a:off x="13401675" y="6953250"/>
                <a:ext cx="561975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83" name="Rectangle 183"/>
              <p:cNvSpPr/>
              <p:nvPr/>
            </p:nvSpPr>
            <p:spPr>
              <a:xfrm>
                <a:off x="14258925" y="6953250"/>
                <a:ext cx="571500" cy="504825"/>
              </a:xfrm>
              <a:prstGeom prst="roundRect">
                <a:avLst>
                  <a:gd name="adj" fmla="val 15094"/>
                </a:avLst>
              </a:prstGeom>
              <a:gradFill>
                <a:gsLst>
                  <a:gs pos="0">
                    <a:srgbClr val="F4FFFF"/>
                  </a:gs>
                  <a:gs pos="60000">
                    <a:srgbClr val="CFF1F2"/>
                  </a:gs>
                  <a:gs pos="100000">
                    <a:srgbClr val="F2FCFC"/>
                  </a:gs>
                </a:gsLst>
                <a:lin ang="2700000" scaled="1"/>
              </a:gradFill>
              <a:ln w="9525">
                <a:solidFill>
                  <a:srgbClr val="53B5BE"/>
                </a:solidFill>
              </a:ln>
            </p:spPr>
          </p:sp>
          <p:sp>
            <p:nvSpPr>
              <p:cNvPr id="184" name="Line 184"/>
              <p:cNvSpPr/>
              <p:nvPr/>
            </p:nvSpPr>
            <p:spPr>
              <a:xfrm>
                <a:off x="13115925" y="7210425"/>
                <a:ext cx="247650" cy="1"/>
              </a:xfrm>
              <a:prstGeom prst="line">
                <a:avLst/>
              </a:prstGeom>
              <a:noFill/>
              <a:ln w="15240">
                <a:solidFill>
                  <a:srgbClr val="24465E"/>
                </a:solidFill>
                <a:tailEnd type="triangle" w="lg" len="lg"/>
              </a:ln>
            </p:spPr>
          </p:sp>
          <p:sp>
            <p:nvSpPr>
              <p:cNvPr id="185" name="Line 185"/>
              <p:cNvSpPr/>
              <p:nvPr/>
            </p:nvSpPr>
            <p:spPr>
              <a:xfrm>
                <a:off x="13982700" y="7210425"/>
                <a:ext cx="228600" cy="1"/>
              </a:xfrm>
              <a:prstGeom prst="line">
                <a:avLst/>
              </a:prstGeom>
              <a:noFill/>
              <a:ln w="15240">
                <a:solidFill>
                  <a:srgbClr val="24465E"/>
                </a:solidFill>
                <a:tailEnd type="triangle" w="lg" len="lg"/>
              </a:ln>
            </p:spPr>
          </p:sp>
          <p:grpSp>
            <p:nvGrpSpPr>
              <p:cNvPr id="192" name="Group 192"/>
              <p:cNvGrpSpPr/>
              <p:nvPr/>
            </p:nvGrpSpPr>
            <p:grpSpPr>
              <a:xfrm>
                <a:off x="12689576" y="6229826"/>
                <a:ext cx="1995698" cy="1205675"/>
                <a:chOff x="12689576" y="6229826"/>
                <a:chExt cx="1995698" cy="1205675"/>
              </a:xfrm>
            </p:grpSpPr>
            <p:sp>
              <p:nvSpPr>
                <p:cNvPr id="186" name="TextBox 186"/>
                <p:cNvSpPr txBox="1"/>
                <p:nvPr/>
              </p:nvSpPr>
              <p:spPr>
                <a:xfrm>
                  <a:off x="12692537" y="622982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</a:p>
              </p:txBody>
            </p:sp>
            <p:sp>
              <p:nvSpPr>
                <p:cNvPr id="187" name="TextBox 187"/>
                <p:cNvSpPr txBox="1"/>
                <p:nvPr/>
              </p:nvSpPr>
              <p:spPr>
                <a:xfrm>
                  <a:off x="13540262" y="622982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88" name="TextBox 188"/>
                <p:cNvSpPr txBox="1"/>
                <p:nvPr/>
              </p:nvSpPr>
              <p:spPr>
                <a:xfrm>
                  <a:off x="14368937" y="6229826"/>
                  <a:ext cx="275275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q</a:t>
                  </a:r>
                  <a:r>
                    <a:rPr lang="en-US" sz="142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89" name="TextBox 189"/>
                <p:cNvSpPr txBox="1"/>
                <p:nvPr/>
              </p:nvSpPr>
              <p:spPr>
                <a:xfrm>
                  <a:off x="12689576" y="703945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</a:p>
              </p:txBody>
            </p:sp>
            <p:sp>
              <p:nvSpPr>
                <p:cNvPr id="190" name="TextBox 190"/>
                <p:cNvSpPr txBox="1"/>
                <p:nvPr/>
              </p:nvSpPr>
              <p:spPr>
                <a:xfrm>
                  <a:off x="13537301" y="703945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</a:p>
              </p:txBody>
            </p:sp>
            <p:sp>
              <p:nvSpPr>
                <p:cNvPr id="191" name="TextBox 191"/>
                <p:cNvSpPr txBox="1"/>
                <p:nvPr/>
              </p:nvSpPr>
              <p:spPr>
                <a:xfrm>
                  <a:off x="14404076" y="7039451"/>
                  <a:ext cx="281198" cy="396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2020" i="1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y</a:t>
                  </a:r>
                  <a:r>
                    <a:rPr lang="en-US" sz="1500" i="1" baseline="-25000" dirty="0">
                      <a:solidFill>
                        <a:srgbClr val="101010"/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</a:p>
              </p:txBody>
            </p:sp>
          </p:grpSp>
          <p:sp>
            <p:nvSpPr>
              <p:cNvPr id="193" name="Ellipse 193"/>
              <p:cNvSpPr/>
              <p:nvPr/>
            </p:nvSpPr>
            <p:spPr>
              <a:xfrm>
                <a:off x="15073312" y="717708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94" name="Ellipse 194"/>
              <p:cNvSpPr/>
              <p:nvPr/>
            </p:nvSpPr>
            <p:spPr>
              <a:xfrm>
                <a:off x="15216188" y="717708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  <p:sp>
            <p:nvSpPr>
              <p:cNvPr id="195" name="Ellipse 195"/>
              <p:cNvSpPr/>
              <p:nvPr/>
            </p:nvSpPr>
            <p:spPr>
              <a:xfrm>
                <a:off x="15359062" y="7177088"/>
                <a:ext cx="66675" cy="66675"/>
              </a:xfrm>
              <a:prstGeom prst="ellipse">
                <a:avLst/>
              </a:prstGeom>
              <a:solidFill>
                <a:srgbClr val="101010"/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2"/>
          <p:cNvGrpSpPr/>
          <p:nvPr/>
        </p:nvGrpSpPr>
        <p:grpSpPr>
          <a:xfrm>
            <a:off x="719012" y="566085"/>
            <a:ext cx="14529626" cy="8284458"/>
            <a:chOff x="719012" y="566085"/>
            <a:chExt cx="14529626" cy="8284458"/>
          </a:xfrm>
        </p:grpSpPr>
        <p:grpSp>
          <p:nvGrpSpPr>
            <p:cNvPr id="4" name="Group 4"/>
            <p:cNvGrpSpPr/>
            <p:nvPr/>
          </p:nvGrpSpPr>
          <p:grpSpPr>
            <a:xfrm>
              <a:off x="5611517" y="566085"/>
              <a:ext cx="8852639" cy="493008"/>
              <a:chOff x="5611517" y="566085"/>
              <a:chExt cx="8852639" cy="493008"/>
            </a:xfrm>
          </p:grpSpPr>
          <p:sp>
            <p:nvSpPr>
              <p:cNvPr id="2" name="TextBox 2"/>
              <p:cNvSpPr txBox="1"/>
              <p:nvPr/>
            </p:nvSpPr>
            <p:spPr>
              <a:xfrm>
                <a:off x="5611517" y="566085"/>
                <a:ext cx="3598857" cy="49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520" b="1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Late access blocking</a:t>
                </a:r>
              </a:p>
            </p:txBody>
          </p:sp>
          <p:sp>
            <p:nvSpPr>
              <p:cNvPr id="3" name="TextBox 3"/>
              <p:cNvSpPr txBox="1"/>
              <p:nvPr/>
            </p:nvSpPr>
            <p:spPr>
              <a:xfrm>
                <a:off x="11888541" y="578472"/>
                <a:ext cx="257561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Effect [95% CI]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624322" y="1227296"/>
              <a:ext cx="6035040" cy="6421755"/>
              <a:chOff x="5624322" y="1227296"/>
              <a:chExt cx="6035040" cy="6421755"/>
            </a:xfrm>
          </p:grpSpPr>
          <p:sp>
            <p:nvSpPr>
              <p:cNvPr id="5" name="Line 5"/>
              <p:cNvSpPr/>
              <p:nvPr/>
            </p:nvSpPr>
            <p:spPr>
              <a:xfrm>
                <a:off x="7459304" y="1227296"/>
                <a:ext cx="9525" cy="641223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412230">
                    <a:moveTo>
                      <a:pt x="0" y="0"/>
                    </a:moveTo>
                    <a:lnTo>
                      <a:pt x="0" y="6412230"/>
                    </a:lnTo>
                  </a:path>
                </a:pathLst>
              </a:custGeom>
              <a:noFill/>
              <a:ln w="29108">
                <a:solidFill>
                  <a:srgbClr val="626B73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5624322" y="6456426"/>
                <a:ext cx="6035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5040" h="9525">
                    <a:moveTo>
                      <a:pt x="0" y="0"/>
                    </a:moveTo>
                    <a:lnTo>
                      <a:pt x="6035040" y="0"/>
                    </a:lnTo>
                  </a:path>
                </a:pathLst>
              </a:custGeom>
              <a:noFill/>
              <a:ln w="23279">
                <a:solidFill>
                  <a:srgbClr val="D5DADE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5624322" y="7639526"/>
                <a:ext cx="603504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5040" h="9525">
                    <a:moveTo>
                      <a:pt x="0" y="0"/>
                    </a:moveTo>
                    <a:lnTo>
                      <a:pt x="6035040" y="0"/>
                    </a:lnTo>
                  </a:path>
                </a:pathLst>
              </a:custGeom>
              <a:noFill/>
              <a:ln w="23279">
                <a:solidFill>
                  <a:srgbClr val="A6AFB7"/>
                </a:solidFill>
              </a:ln>
            </p:spPr>
          </p:sp>
          <p:grpSp>
            <p:nvGrpSpPr>
              <p:cNvPr id="12" name="Group 12"/>
              <p:cNvGrpSpPr/>
              <p:nvPr/>
            </p:nvGrpSpPr>
            <p:grpSpPr>
              <a:xfrm>
                <a:off x="8546697" y="1718281"/>
                <a:ext cx="1640614" cy="192100"/>
                <a:chOff x="8546697" y="1718281"/>
                <a:chExt cx="1640614" cy="192100"/>
              </a:xfrm>
            </p:grpSpPr>
            <p:sp>
              <p:nvSpPr>
                <p:cNvPr id="8" name="Line 8"/>
                <p:cNvSpPr/>
                <p:nvPr/>
              </p:nvSpPr>
              <p:spPr>
                <a:xfrm>
                  <a:off x="8546697" y="1814332"/>
                  <a:ext cx="163109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1090" h="9525">
                      <a:moveTo>
                        <a:pt x="0" y="0"/>
                      </a:moveTo>
                      <a:lnTo>
                        <a:pt x="1631090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9" name="Line 9"/>
                <p:cNvSpPr/>
                <p:nvPr/>
              </p:nvSpPr>
              <p:spPr>
                <a:xfrm>
                  <a:off x="8546697" y="171828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0" name="Line 10"/>
                <p:cNvSpPr/>
                <p:nvPr/>
              </p:nvSpPr>
              <p:spPr>
                <a:xfrm>
                  <a:off x="10177786" y="171828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1" name="Ellipse 11"/>
                <p:cNvSpPr/>
                <p:nvPr/>
              </p:nvSpPr>
              <p:spPr>
                <a:xfrm>
                  <a:off x="9266987" y="1719082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17" name="Group 17"/>
              <p:cNvGrpSpPr/>
              <p:nvPr/>
            </p:nvGrpSpPr>
            <p:grpSpPr>
              <a:xfrm>
                <a:off x="7595225" y="2666571"/>
                <a:ext cx="1912468" cy="192100"/>
                <a:chOff x="7595225" y="2666571"/>
                <a:chExt cx="1912468" cy="192100"/>
              </a:xfrm>
            </p:grpSpPr>
            <p:sp>
              <p:nvSpPr>
                <p:cNvPr id="13" name="Line 13"/>
                <p:cNvSpPr/>
                <p:nvPr/>
              </p:nvSpPr>
              <p:spPr>
                <a:xfrm>
                  <a:off x="7595225" y="2762621"/>
                  <a:ext cx="190294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2943" h="9525">
                      <a:moveTo>
                        <a:pt x="0" y="0"/>
                      </a:moveTo>
                      <a:lnTo>
                        <a:pt x="1902943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7595225" y="266657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9498168" y="266657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16" name="Ellipse 16"/>
                <p:cNvSpPr/>
                <p:nvPr/>
              </p:nvSpPr>
              <p:spPr>
                <a:xfrm>
                  <a:off x="8451447" y="2667371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7459304" y="3614852"/>
                <a:ext cx="1232840" cy="192100"/>
                <a:chOff x="7459304" y="3614852"/>
                <a:chExt cx="1232840" cy="192100"/>
              </a:xfrm>
            </p:grpSpPr>
            <p:sp>
              <p:nvSpPr>
                <p:cNvPr id="18" name="Line 18"/>
                <p:cNvSpPr/>
                <p:nvPr/>
              </p:nvSpPr>
              <p:spPr>
                <a:xfrm>
                  <a:off x="7459304" y="3710902"/>
                  <a:ext cx="122331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3315" h="9525">
                      <a:moveTo>
                        <a:pt x="0" y="0"/>
                      </a:moveTo>
                      <a:lnTo>
                        <a:pt x="1223315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7459304" y="3614852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8682619" y="3614852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1" name="Ellipse 21"/>
                <p:cNvSpPr/>
                <p:nvPr/>
              </p:nvSpPr>
              <p:spPr>
                <a:xfrm>
                  <a:off x="8043672" y="3615652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9498168" y="4743774"/>
                <a:ext cx="1793529" cy="192100"/>
                <a:chOff x="9498168" y="4743774"/>
                <a:chExt cx="1793529" cy="192100"/>
              </a:xfrm>
            </p:grpSpPr>
            <p:sp>
              <p:nvSpPr>
                <p:cNvPr id="23" name="Line 23"/>
                <p:cNvSpPr/>
                <p:nvPr/>
              </p:nvSpPr>
              <p:spPr>
                <a:xfrm>
                  <a:off x="9498168" y="4839824"/>
                  <a:ext cx="1784004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4004" h="9525">
                      <a:moveTo>
                        <a:pt x="0" y="0"/>
                      </a:moveTo>
                      <a:lnTo>
                        <a:pt x="1784004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24" name="Line 24"/>
                <p:cNvSpPr/>
                <p:nvPr/>
              </p:nvSpPr>
              <p:spPr>
                <a:xfrm>
                  <a:off x="9498168" y="474377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5" name="Line 25"/>
                <p:cNvSpPr/>
                <p:nvPr/>
              </p:nvSpPr>
              <p:spPr>
                <a:xfrm>
                  <a:off x="11282172" y="474377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26" name="Ellipse 26"/>
                <p:cNvSpPr/>
                <p:nvPr/>
              </p:nvSpPr>
              <p:spPr>
                <a:xfrm>
                  <a:off x="10422350" y="4744574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8223875" y="5692054"/>
                <a:ext cx="2558101" cy="192100"/>
                <a:chOff x="8223875" y="5692054"/>
                <a:chExt cx="2558101" cy="192100"/>
              </a:xfrm>
            </p:grpSpPr>
            <p:sp>
              <p:nvSpPr>
                <p:cNvPr id="28" name="Line 28"/>
                <p:cNvSpPr/>
                <p:nvPr/>
              </p:nvSpPr>
              <p:spPr>
                <a:xfrm>
                  <a:off x="8223875" y="5788104"/>
                  <a:ext cx="254857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8576" h="9525">
                      <a:moveTo>
                        <a:pt x="0" y="0"/>
                      </a:moveTo>
                      <a:lnTo>
                        <a:pt x="2548576" y="0"/>
                      </a:lnTo>
                    </a:path>
                  </a:pathLst>
                </a:custGeom>
                <a:noFill/>
                <a:ln w="52388">
                  <a:solidFill>
                    <a:srgbClr val="147D92"/>
                  </a:solidFill>
                </a:ln>
              </p:spPr>
            </p:sp>
            <p:sp>
              <p:nvSpPr>
                <p:cNvPr id="29" name="Line 29"/>
                <p:cNvSpPr/>
                <p:nvPr/>
              </p:nvSpPr>
              <p:spPr>
                <a:xfrm>
                  <a:off x="8223875" y="569205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30" name="Line 30"/>
                <p:cNvSpPr/>
                <p:nvPr/>
              </p:nvSpPr>
              <p:spPr>
                <a:xfrm>
                  <a:off x="10772451" y="5692054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147D92"/>
                  </a:solidFill>
                </a:ln>
              </p:spPr>
            </p:sp>
            <p:sp>
              <p:nvSpPr>
                <p:cNvPr id="31" name="Ellipse 31"/>
                <p:cNvSpPr/>
                <p:nvPr/>
              </p:nvSpPr>
              <p:spPr>
                <a:xfrm>
                  <a:off x="9402918" y="5692854"/>
                  <a:ext cx="190500" cy="190500"/>
                </a:xfrm>
                <a:prstGeom prst="ellipse">
                  <a:avLst/>
                </a:prstGeom>
                <a:solidFill>
                  <a:srgbClr val="147D92"/>
                </a:solidFill>
                <a:ln>
                  <a:noFill/>
                </a:ln>
              </p:spPr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5930151" y="6956441"/>
                <a:ext cx="1283817" cy="192100"/>
                <a:chOff x="5930151" y="6956441"/>
                <a:chExt cx="1283817" cy="192100"/>
              </a:xfrm>
            </p:grpSpPr>
            <p:sp>
              <p:nvSpPr>
                <p:cNvPr id="33" name="Line 33"/>
                <p:cNvSpPr/>
                <p:nvPr/>
              </p:nvSpPr>
              <p:spPr>
                <a:xfrm>
                  <a:off x="5930151" y="7052491"/>
                  <a:ext cx="1274293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4293" h="9525">
                      <a:moveTo>
                        <a:pt x="0" y="0"/>
                      </a:moveTo>
                      <a:lnTo>
                        <a:pt x="1274293" y="0"/>
                      </a:lnTo>
                    </a:path>
                  </a:pathLst>
                </a:custGeom>
                <a:noFill/>
                <a:ln w="52388">
                  <a:solidFill>
                    <a:srgbClr val="AD531D"/>
                  </a:solidFill>
                </a:ln>
              </p:spPr>
            </p:sp>
            <p:sp>
              <p:nvSpPr>
                <p:cNvPr id="34" name="Line 34"/>
                <p:cNvSpPr/>
                <p:nvPr/>
              </p:nvSpPr>
              <p:spPr>
                <a:xfrm>
                  <a:off x="5930151" y="695644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AD531D"/>
                  </a:solidFill>
                </a:ln>
              </p:spPr>
            </p:sp>
            <p:sp>
              <p:nvSpPr>
                <p:cNvPr id="35" name="Line 35"/>
                <p:cNvSpPr/>
                <p:nvPr/>
              </p:nvSpPr>
              <p:spPr>
                <a:xfrm>
                  <a:off x="7204443" y="6956441"/>
                  <a:ext cx="9525" cy="19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2100">
                      <a:moveTo>
                        <a:pt x="0" y="0"/>
                      </a:moveTo>
                      <a:lnTo>
                        <a:pt x="0" y="192100"/>
                      </a:lnTo>
                    </a:path>
                  </a:pathLst>
                </a:custGeom>
                <a:noFill/>
                <a:ln w="29108">
                  <a:solidFill>
                    <a:srgbClr val="AD531D"/>
                  </a:solidFill>
                </a:ln>
              </p:spPr>
            </p:sp>
            <p:sp>
              <p:nvSpPr>
                <p:cNvPr id="36" name="Rectangle 36"/>
                <p:cNvSpPr/>
                <p:nvPr/>
              </p:nvSpPr>
              <p:spPr>
                <a:xfrm>
                  <a:off x="6599472" y="6957241"/>
                  <a:ext cx="190500" cy="190500"/>
                </a:xfrm>
                <a:prstGeom prst="rect">
                  <a:avLst/>
                </a:prstGeom>
                <a:solidFill>
                  <a:srgbClr val="AD531D"/>
                </a:solidFill>
                <a:ln>
                  <a:noFill/>
                </a:ln>
              </p:spPr>
            </p:sp>
          </p:grpSp>
        </p:grpSp>
        <p:grpSp>
          <p:nvGrpSpPr>
            <p:cNvPr id="51" name="Group 51"/>
            <p:cNvGrpSpPr/>
            <p:nvPr/>
          </p:nvGrpSpPr>
          <p:grpSpPr>
            <a:xfrm>
              <a:off x="719012" y="1516685"/>
              <a:ext cx="4626487" cy="6051262"/>
              <a:chOff x="719012" y="1516685"/>
              <a:chExt cx="4626487" cy="6051262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2197303" y="1516685"/>
                <a:ext cx="314819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Game24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81133" y="1859585"/>
                <a:ext cx="4464366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15 questions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015498" y="2464422"/>
                <a:ext cx="3330001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Qwen3-32B / Game24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81133" y="2807322"/>
                <a:ext cx="4464366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15 questions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811265" y="3413112"/>
                <a:ext cx="3534233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Gemma 4 E4B / Game24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81133" y="3756012"/>
                <a:ext cx="4464366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15 questions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954284" y="4541825"/>
                <a:ext cx="339121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MATH500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60031" y="4884725"/>
                <a:ext cx="4285468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8 questions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532782" y="5490515"/>
                <a:ext cx="3812717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MATH-train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60031" y="5833415"/>
                <a:ext cx="4285468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Failed history, 8 questions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197303" y="6754482"/>
                <a:ext cx="3148195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Qwen3-8B / Game24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19012" y="7097382"/>
                <a:ext cx="4626487" cy="4705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241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Correct history, 8 questions</a:t>
                </a: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1888774" y="1664499"/>
              <a:ext cx="3359864" cy="5699415"/>
              <a:chOff x="11888774" y="1664499"/>
              <a:chExt cx="3359864" cy="5699415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11888774" y="1664499"/>
                <a:ext cx="3359864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+46.7 [+26.7, +66.7]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1888774" y="2612236"/>
                <a:ext cx="3185127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+26.7 [+3.3, +50.0]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1888774" y="3560926"/>
                <a:ext cx="3185127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+16.7 [+0.0, +30.0]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11888774" y="4689639"/>
                <a:ext cx="3359864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+75.0 [+50.0, +93.8]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1888774" y="5638329"/>
                <a:ext cx="3359864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+50.0 [+18.8, +81.2]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1888774" y="6902296"/>
                <a:ext cx="3185127" cy="4616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360" dirty="0">
                    <a:solidFill>
                      <a:srgbClr val="25333D"/>
                    </a:solidFill>
                    <a:latin typeface="Arial"/>
                    <a:ea typeface="Arial"/>
                    <a:cs typeface="Arial"/>
                  </a:rPr>
                  <a:t>-18.8 [-37.5, -6.2]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5828205" y="7639526"/>
              <a:ext cx="5718352" cy="101860"/>
              <a:chOff x="5828205" y="7639526"/>
              <a:chExt cx="5718352" cy="101860"/>
            </a:xfrm>
          </p:grpSpPr>
          <p:sp>
            <p:nvSpPr>
              <p:cNvPr id="59" name="Line 59"/>
              <p:cNvSpPr/>
              <p:nvPr/>
            </p:nvSpPr>
            <p:spPr>
              <a:xfrm>
                <a:off x="5828205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7459304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1" name="Line 61"/>
              <p:cNvSpPr/>
              <p:nvPr/>
            </p:nvSpPr>
            <p:spPr>
              <a:xfrm>
                <a:off x="9090393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10721483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11537032" y="7639526"/>
                <a:ext cx="9525" cy="10186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860">
                    <a:moveTo>
                      <a:pt x="0" y="0"/>
                    </a:moveTo>
                    <a:lnTo>
                      <a:pt x="0" y="101860"/>
                    </a:lnTo>
                  </a:path>
                </a:pathLst>
              </a:custGeom>
              <a:noFill/>
              <a:ln w="23279">
                <a:solidFill>
                  <a:srgbClr val="000000"/>
                </a:solidFill>
              </a:ln>
            </p:spPr>
          </p:sp>
        </p:grpSp>
        <p:grpSp>
          <p:nvGrpSpPr>
            <p:cNvPr id="71" name="Group 71"/>
            <p:cNvGrpSpPr/>
            <p:nvPr/>
          </p:nvGrpSpPr>
          <p:grpSpPr>
            <a:xfrm>
              <a:off x="5562230" y="7810729"/>
              <a:ext cx="6240776" cy="1039814"/>
              <a:chOff x="5562230" y="7810729"/>
              <a:chExt cx="6240776" cy="1039814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5562230" y="7810729"/>
                <a:ext cx="531948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−40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362883" y="7810729"/>
                <a:ext cx="192841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0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909196" y="7810729"/>
                <a:ext cx="362395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40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540286" y="7810729"/>
                <a:ext cx="362395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80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1271058" y="7810729"/>
                <a:ext cx="531948" cy="448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9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100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603450" y="8357535"/>
                <a:ext cx="6076785" cy="4930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520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Accuracy: blocked − full access (pp)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clr2027_editable_figures">
  <a:themeElements>
    <a:clrScheme name="iclr2027_editable_figure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clr2027_editable_figure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clr2027_editable_figur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2026-09-25T06:24:16Z</dcterms:created>
  <dcterms:modified xsi:type="dcterms:W3CDTF">2026-09-25T06:24:16Z</dcterms:modified>
  <cp:category/>
  <cp:contentStatus/>
</cp:coreProperties>
</file>